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9" r:id="rId4"/>
    <p:sldId id="258" r:id="rId5"/>
    <p:sldId id="260" r:id="rId6"/>
    <p:sldId id="261" r:id="rId7"/>
    <p:sldId id="263" r:id="rId8"/>
    <p:sldId id="264"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82" y="1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E3DC9-4DBB-A976-1D11-19FC1A6CBD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4C7E986-D0F9-006E-B8FC-D50F161E0E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82E9030-68B8-99FC-C2EB-7FDB92EF977E}"/>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5" name="Footer Placeholder 4">
            <a:extLst>
              <a:ext uri="{FF2B5EF4-FFF2-40B4-BE49-F238E27FC236}">
                <a16:creationId xmlns:a16="http://schemas.microsoft.com/office/drawing/2014/main" id="{B898C8E8-DCDC-574E-F534-93EFF5D3605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EE2507-965B-5802-FB7D-89D9C5B500B0}"/>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3003729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0FB-4E94-3144-E5AF-E3970AF868A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C92E450-6AD5-73BB-A764-E4545BF5A7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0A2D3FF-7503-A1E0-D378-8E86F00BA982}"/>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5" name="Footer Placeholder 4">
            <a:extLst>
              <a:ext uri="{FF2B5EF4-FFF2-40B4-BE49-F238E27FC236}">
                <a16:creationId xmlns:a16="http://schemas.microsoft.com/office/drawing/2014/main" id="{BE3237F7-8ABD-B6BF-A05D-F37C85F479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F8FD79-3CD6-0C09-BABC-877CEB4C112D}"/>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467264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F9705-4EF7-5985-868D-23C650EAAD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4E6C971-0157-D6A2-8716-3AE46CE0FD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08A7D0-092A-263E-36ED-6E5F02894D69}"/>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5" name="Footer Placeholder 4">
            <a:extLst>
              <a:ext uri="{FF2B5EF4-FFF2-40B4-BE49-F238E27FC236}">
                <a16:creationId xmlns:a16="http://schemas.microsoft.com/office/drawing/2014/main" id="{47C2FEE1-F14C-8735-121E-80004DB08F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D784BD-FE57-349B-DE2E-ABEB07A6B9AB}"/>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51051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8E532-8B02-ACBD-2048-59ABB4ADBB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A64758E-0C27-1799-33D9-69E5210688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6398FA6-7EA7-A8D8-EAA4-0E760443E1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F03D2C9-66DB-0F42-E513-DAF9747E2EBC}"/>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6" name="Footer Placeholder 5">
            <a:extLst>
              <a:ext uri="{FF2B5EF4-FFF2-40B4-BE49-F238E27FC236}">
                <a16:creationId xmlns:a16="http://schemas.microsoft.com/office/drawing/2014/main" id="{33A89614-38DC-19BF-AAF4-039FFCDBB83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B36442A-D46F-5259-ABF7-D53D12E72478}"/>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1507928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44CA4-4009-3959-01F1-424AAB25860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80E7716-8287-4160-FCEA-4555236C33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292070-15A4-8413-5321-3AB8EF3C9C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6C0C5C8-6D3A-E1E9-A665-68934116B7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5FB8DF-36C4-8B5B-D934-B02455F5CD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5F4ADAF-504A-6939-B345-636D2FEE9301}"/>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8" name="Footer Placeholder 7">
            <a:extLst>
              <a:ext uri="{FF2B5EF4-FFF2-40B4-BE49-F238E27FC236}">
                <a16:creationId xmlns:a16="http://schemas.microsoft.com/office/drawing/2014/main" id="{637AC89C-9B97-5263-026F-07948B4DBDA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6E95C06-9AFD-D696-401E-BE4D77DAB7FF}"/>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408678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8F145-8A59-48FF-AFB3-9BF88C7BF38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AD057C0-C17D-0883-82D1-5192A2172167}"/>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4" name="Footer Placeholder 3">
            <a:extLst>
              <a:ext uri="{FF2B5EF4-FFF2-40B4-BE49-F238E27FC236}">
                <a16:creationId xmlns:a16="http://schemas.microsoft.com/office/drawing/2014/main" id="{D36D5398-57E8-414C-A20C-19EA49EC4C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966EDAD-753E-C706-2DA0-E115AD2C3495}"/>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3304311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3889F1-B7EC-B343-6E18-B03055385F0F}"/>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3" name="Footer Placeholder 2">
            <a:extLst>
              <a:ext uri="{FF2B5EF4-FFF2-40B4-BE49-F238E27FC236}">
                <a16:creationId xmlns:a16="http://schemas.microsoft.com/office/drawing/2014/main" id="{8EABE6D6-E6F4-69EA-2645-19EF9B297C7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E86CAC-90F1-8E55-B93E-8FE9025C214C}"/>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2729014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5B3BD-63DB-5F13-F902-20C684A4DC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E393734-DCAE-4A53-456A-07F6982D3E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BF44753-A4DD-0474-808B-45F5FB695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49763-241F-465B-D0B6-A41C4555FD0A}"/>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6" name="Footer Placeholder 5">
            <a:extLst>
              <a:ext uri="{FF2B5EF4-FFF2-40B4-BE49-F238E27FC236}">
                <a16:creationId xmlns:a16="http://schemas.microsoft.com/office/drawing/2014/main" id="{2D3997CC-5F86-6F34-DB46-3FE0C1FF7C5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7D5DFB9-71B7-FB84-3B7E-F04CBC73A0E1}"/>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474572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F8CA0-FE92-657D-79A3-420CB658EC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34BD74C-B3F1-0E27-4841-2B4D00240BB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5C823-F74A-F9C3-7499-D710270225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BCC4AF-E1C7-75E4-C9A0-12478BE08203}"/>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6" name="Footer Placeholder 5">
            <a:extLst>
              <a:ext uri="{FF2B5EF4-FFF2-40B4-BE49-F238E27FC236}">
                <a16:creationId xmlns:a16="http://schemas.microsoft.com/office/drawing/2014/main" id="{E6323A2C-6B81-7A3C-532F-8A2883BD302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CBCF99-1083-9B1E-5DBA-6CCE3455C06F}"/>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1985040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722BD-F7F4-01E2-E481-54399E2277F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0955668-8299-8C40-5662-B21D1FC0FC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052821-2EE5-3322-7DE0-87F76F03F357}"/>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5" name="Footer Placeholder 4">
            <a:extLst>
              <a:ext uri="{FF2B5EF4-FFF2-40B4-BE49-F238E27FC236}">
                <a16:creationId xmlns:a16="http://schemas.microsoft.com/office/drawing/2014/main" id="{C11F5B66-09C6-0396-A79E-0EA6963F95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783404-BF78-4A61-53FB-EDEC6DBCCBD3}"/>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1417184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E45689-2206-9B63-5D23-9213FE3068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1BB270C-1824-373F-FF97-9E02C58627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FE8BF4-9D10-77E6-3CBF-71BFA9B779B7}"/>
              </a:ext>
            </a:extLst>
          </p:cNvPr>
          <p:cNvSpPr>
            <a:spLocks noGrp="1"/>
          </p:cNvSpPr>
          <p:nvPr>
            <p:ph type="dt" sz="half" idx="10"/>
          </p:nvPr>
        </p:nvSpPr>
        <p:spPr/>
        <p:txBody>
          <a:bodyPr/>
          <a:lstStyle/>
          <a:p>
            <a:fld id="{B63B3A4D-09A0-4A2D-B8AA-E341011653F0}" type="datetimeFigureOut">
              <a:rPr lang="en-GB" smtClean="0"/>
              <a:t>22/10/2026</a:t>
            </a:fld>
            <a:endParaRPr lang="en-GB"/>
          </a:p>
        </p:txBody>
      </p:sp>
      <p:sp>
        <p:nvSpPr>
          <p:cNvPr id="5" name="Footer Placeholder 4">
            <a:extLst>
              <a:ext uri="{FF2B5EF4-FFF2-40B4-BE49-F238E27FC236}">
                <a16:creationId xmlns:a16="http://schemas.microsoft.com/office/drawing/2014/main" id="{242A5B91-51DA-93AE-D1E0-E3E4168EE8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7FF672-D666-2BF7-503F-B80790656871}"/>
              </a:ext>
            </a:extLst>
          </p:cNvPr>
          <p:cNvSpPr>
            <a:spLocks noGrp="1"/>
          </p:cNvSpPr>
          <p:nvPr>
            <p:ph type="sldNum" sz="quarter" idx="12"/>
          </p:nvPr>
        </p:nvSpPr>
        <p:spPr/>
        <p:txBody>
          <a:bodyPr/>
          <a:lstStyle/>
          <a:p>
            <a:fld id="{B32395A3-9167-4B67-839B-5F0AE6130E5B}" type="slidenum">
              <a:rPr lang="en-GB" smtClean="0"/>
              <a:t>‹#›</a:t>
            </a:fld>
            <a:endParaRPr lang="en-GB"/>
          </a:p>
        </p:txBody>
      </p:sp>
    </p:spTree>
    <p:extLst>
      <p:ext uri="{BB962C8B-B14F-4D97-AF65-F5344CB8AC3E}">
        <p14:creationId xmlns:p14="http://schemas.microsoft.com/office/powerpoint/2010/main" val="314810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FDD450-9B3A-E22C-DDCE-83A3F5E008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28D415-92C3-07E9-3B95-9F16B246EA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AD8E0C-5385-EA75-5311-30881642F1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3B3A4D-09A0-4A2D-B8AA-E341011653F0}" type="datetimeFigureOut">
              <a:rPr lang="en-GB" smtClean="0"/>
              <a:t>22/10/2026</a:t>
            </a:fld>
            <a:endParaRPr lang="en-GB"/>
          </a:p>
        </p:txBody>
      </p:sp>
      <p:sp>
        <p:nvSpPr>
          <p:cNvPr id="5" name="Footer Placeholder 4">
            <a:extLst>
              <a:ext uri="{FF2B5EF4-FFF2-40B4-BE49-F238E27FC236}">
                <a16:creationId xmlns:a16="http://schemas.microsoft.com/office/drawing/2014/main" id="{FCF8F254-F9B3-DEAD-180A-0E0664640B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AB57AC3-C254-1087-8811-004CD38A50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2395A3-9167-4B67-839B-5F0AE6130E5B}" type="slidenum">
              <a:rPr lang="en-GB" smtClean="0"/>
              <a:t>‹#›</a:t>
            </a:fld>
            <a:endParaRPr lang="en-GB"/>
          </a:p>
        </p:txBody>
      </p:sp>
    </p:spTree>
    <p:extLst>
      <p:ext uri="{BB962C8B-B14F-4D97-AF65-F5344CB8AC3E}">
        <p14:creationId xmlns:p14="http://schemas.microsoft.com/office/powerpoint/2010/main" val="20077510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CF16DD-4203-1914-4059-2BD6D514F6AD}"/>
              </a:ext>
            </a:extLst>
          </p:cNvPr>
          <p:cNvSpPr>
            <a:spLocks noGrp="1"/>
          </p:cNvSpPr>
          <p:nvPr>
            <p:ph idx="1"/>
          </p:nvPr>
        </p:nvSpPr>
        <p:spPr>
          <a:xfrm>
            <a:off x="220784" y="106241"/>
            <a:ext cx="10515600" cy="440837"/>
          </a:xfrm>
        </p:spPr>
        <p:txBody>
          <a:bodyPr>
            <a:normAutofit lnSpcReduction="10000"/>
          </a:bodyPr>
          <a:lstStyle/>
          <a:p>
            <a:r>
              <a:rPr lang="en-GB" dirty="0"/>
              <a:t>model_training.py</a:t>
            </a:r>
          </a:p>
          <a:p>
            <a:pPr marL="0" indent="0">
              <a:buNone/>
            </a:pPr>
            <a:endParaRPr lang="en-GB" dirty="0"/>
          </a:p>
        </p:txBody>
      </p:sp>
      <p:sp>
        <p:nvSpPr>
          <p:cNvPr id="5" name="TextBox 4">
            <a:extLst>
              <a:ext uri="{FF2B5EF4-FFF2-40B4-BE49-F238E27FC236}">
                <a16:creationId xmlns:a16="http://schemas.microsoft.com/office/drawing/2014/main" id="{77619D86-BDA4-2C2F-44DB-333A46E35AE2}"/>
              </a:ext>
            </a:extLst>
          </p:cNvPr>
          <p:cNvSpPr txBox="1"/>
          <p:nvPr/>
        </p:nvSpPr>
        <p:spPr>
          <a:xfrm>
            <a:off x="476739" y="721812"/>
            <a:ext cx="10902461" cy="5078313"/>
          </a:xfrm>
          <a:prstGeom prst="rect">
            <a:avLst/>
          </a:prstGeom>
          <a:noFill/>
        </p:spPr>
        <p:txBody>
          <a:bodyPr wrap="square">
            <a:spAutoFit/>
          </a:bodyPr>
          <a:lstStyle/>
          <a:p>
            <a:pPr>
              <a:lnSpc>
                <a:spcPct val="100000"/>
              </a:lnSpc>
              <a:buNone/>
            </a:pPr>
            <a:r>
              <a:rPr lang="en-GB" sz="1800" b="0" dirty="0">
                <a:solidFill>
                  <a:schemeClr val="tx1"/>
                </a:solidFill>
                <a:effectLst/>
                <a:latin typeface="+mn-lt"/>
              </a:rPr>
              <a:t>model_training.py - predict the price per kilo of a boxed tea.</a:t>
            </a:r>
          </a:p>
          <a:p>
            <a:pPr>
              <a:lnSpc>
                <a:spcPct val="100000"/>
              </a:lnSpc>
              <a:buNone/>
            </a:pPr>
            <a:br>
              <a:rPr lang="en-GB" sz="1800" b="0" dirty="0">
                <a:solidFill>
                  <a:schemeClr val="tx1"/>
                </a:solidFill>
                <a:effectLst/>
                <a:latin typeface="+mn-lt"/>
              </a:rPr>
            </a:br>
            <a:endParaRPr lang="en-GB" sz="1800" b="0" dirty="0">
              <a:solidFill>
                <a:schemeClr val="tx1"/>
              </a:solidFill>
              <a:effectLst/>
              <a:latin typeface="+mn-lt"/>
            </a:endParaRPr>
          </a:p>
          <a:p>
            <a:pPr>
              <a:lnSpc>
                <a:spcPct val="100000"/>
              </a:lnSpc>
              <a:buNone/>
            </a:pPr>
            <a:r>
              <a:rPr lang="en-GB" sz="1800" b="0" dirty="0">
                <a:solidFill>
                  <a:schemeClr val="tx1"/>
                </a:solidFill>
                <a:effectLst/>
                <a:latin typeface="+mn-lt"/>
              </a:rPr>
              <a:t>Workflow (the standard hold-out + cross-validation scheme):</a:t>
            </a:r>
          </a:p>
          <a:p>
            <a:pPr>
              <a:lnSpc>
                <a:spcPct val="100000"/>
              </a:lnSpc>
              <a:buNone/>
            </a:pPr>
            <a:r>
              <a:rPr lang="en-GB" sz="1800" b="0" dirty="0">
                <a:solidFill>
                  <a:schemeClr val="tx1"/>
                </a:solidFill>
                <a:effectLst/>
                <a:latin typeface="+mn-lt"/>
              </a:rPr>
              <a:t>  1. Split the data ONCE: 80% "train" and 20% "test". The split keeps all variants of a product together and is</a:t>
            </a:r>
          </a:p>
          <a:p>
            <a:pPr>
              <a:lnSpc>
                <a:spcPct val="100000"/>
              </a:lnSpc>
              <a:buNone/>
            </a:pPr>
            <a:r>
              <a:rPr lang="en-GB" sz="1800" b="0" dirty="0">
                <a:solidFill>
                  <a:schemeClr val="tx1"/>
                </a:solidFill>
                <a:effectLst/>
                <a:latin typeface="+mn-lt"/>
              </a:rPr>
              <a:t>     stratified by price band, so the few extreme products are spread fairly between the two parts.</a:t>
            </a:r>
          </a:p>
          <a:p>
            <a:pPr>
              <a:lnSpc>
                <a:spcPct val="100000"/>
              </a:lnSpc>
              <a:buNone/>
            </a:pPr>
            <a:r>
              <a:rPr lang="en-GB" sz="1800" b="0" dirty="0">
                <a:solidFill>
                  <a:schemeClr val="tx1"/>
                </a:solidFill>
                <a:effectLst/>
                <a:latin typeface="+mn-lt"/>
              </a:rPr>
              <a:t>  2. On the 80% train part run 5-fold cross-validation (each fold: 80% of it to fit, 20% to check). This is where</a:t>
            </a:r>
          </a:p>
          <a:p>
            <a:pPr>
              <a:lnSpc>
                <a:spcPct val="100000"/>
              </a:lnSpc>
              <a:buNone/>
            </a:pPr>
            <a:r>
              <a:rPr lang="en-GB" sz="1800" b="0" dirty="0">
                <a:solidFill>
                  <a:schemeClr val="tx1"/>
                </a:solidFill>
                <a:effectLst/>
                <a:latin typeface="+mn-lt"/>
              </a:rPr>
              <a:t>     models are compared and chosen. The 20% test part is not used here.</a:t>
            </a:r>
          </a:p>
          <a:p>
            <a:pPr>
              <a:lnSpc>
                <a:spcPct val="100000"/>
              </a:lnSpc>
              <a:buNone/>
            </a:pPr>
            <a:r>
              <a:rPr lang="en-GB" sz="1800" b="0" dirty="0">
                <a:solidFill>
                  <a:schemeClr val="tx1"/>
                </a:solidFill>
                <a:effectLst/>
                <a:latin typeface="+mn-lt"/>
              </a:rPr>
              <a:t>  3. Fit the chosen model on the whole 80% and score it ONCE on the 20% test part. No changes after that.</a:t>
            </a:r>
          </a:p>
          <a:p>
            <a:pPr>
              <a:lnSpc>
                <a:spcPct val="100000"/>
              </a:lnSpc>
              <a:buNone/>
            </a:pPr>
            <a:r>
              <a:rPr lang="en-GB" sz="1800" b="0" dirty="0">
                <a:solidFill>
                  <a:schemeClr val="tx1"/>
                </a:solidFill>
                <a:effectLst/>
                <a:latin typeface="+mn-lt"/>
              </a:rPr>
              <a:t>  4. Refit the chosen model on ALL rows and save it - that is the model you use in production.</a:t>
            </a:r>
          </a:p>
          <a:p>
            <a:pPr>
              <a:lnSpc>
                <a:spcPct val="100000"/>
              </a:lnSpc>
              <a:buNone/>
            </a:pPr>
            <a:br>
              <a:rPr lang="en-GB" sz="1800" b="0" dirty="0">
                <a:solidFill>
                  <a:schemeClr val="tx1"/>
                </a:solidFill>
                <a:effectLst/>
                <a:latin typeface="+mn-lt"/>
              </a:rPr>
            </a:br>
            <a:endParaRPr lang="en-GB" sz="1800" b="0" dirty="0">
              <a:solidFill>
                <a:schemeClr val="tx1"/>
              </a:solidFill>
              <a:effectLst/>
              <a:latin typeface="+mn-lt"/>
            </a:endParaRPr>
          </a:p>
          <a:p>
            <a:pPr>
              <a:lnSpc>
                <a:spcPct val="100000"/>
              </a:lnSpc>
              <a:buNone/>
            </a:pPr>
            <a:r>
              <a:rPr lang="en-GB" sz="1800" b="0" dirty="0">
                <a:solidFill>
                  <a:schemeClr val="tx1"/>
                </a:solidFill>
                <a:effectLst/>
                <a:latin typeface="+mn-lt"/>
              </a:rPr>
              <a:t>Metrics: R2 (log and EUR/kg), MAE, RMSE, median and mean % error, RMSLE - each next to two naive baselines</a:t>
            </a:r>
          </a:p>
          <a:p>
            <a:pPr>
              <a:lnSpc>
                <a:spcPct val="100000"/>
              </a:lnSpc>
              <a:buNone/>
            </a:pPr>
            <a:r>
              <a:rPr lang="en-GB" sz="1800" b="0" dirty="0">
                <a:solidFill>
                  <a:schemeClr val="tx1"/>
                </a:solidFill>
                <a:effectLst/>
                <a:latin typeface="+mn-lt"/>
              </a:rPr>
              <a:t>("always predict the shop's median price per kilo" and "always predict the overall median").</a:t>
            </a:r>
          </a:p>
          <a:p>
            <a:pPr>
              <a:lnSpc>
                <a:spcPct val="100000"/>
              </a:lnSpc>
              <a:buNone/>
            </a:pPr>
            <a:br>
              <a:rPr lang="en-GB" sz="1800" b="0" dirty="0">
                <a:solidFill>
                  <a:schemeClr val="tx1"/>
                </a:solidFill>
                <a:effectLst/>
                <a:latin typeface="+mn-lt"/>
              </a:rPr>
            </a:br>
            <a:endParaRPr lang="en-GB" sz="1800" b="0" dirty="0">
              <a:solidFill>
                <a:schemeClr val="tx1"/>
              </a:solidFill>
              <a:effectLst/>
              <a:latin typeface="+mn-lt"/>
            </a:endParaRPr>
          </a:p>
          <a:p>
            <a:pPr>
              <a:lnSpc>
                <a:spcPct val="100000"/>
              </a:lnSpc>
              <a:buNone/>
            </a:pPr>
            <a:r>
              <a:rPr lang="en-GB" sz="1800" b="0" dirty="0">
                <a:solidFill>
                  <a:schemeClr val="tx1"/>
                </a:solidFill>
                <a:effectLst/>
                <a:latin typeface="+mn-lt"/>
              </a:rPr>
              <a:t>Model: price per kilo is learned on a log scale (the range is 36 - 8970 EUR/kg), from company, weight, tea type,</a:t>
            </a:r>
          </a:p>
          <a:p>
            <a:pPr>
              <a:lnSpc>
                <a:spcPct val="100000"/>
              </a:lnSpc>
              <a:buNone/>
            </a:pPr>
            <a:r>
              <a:rPr lang="en-GB" sz="1800" b="0" dirty="0">
                <a:solidFill>
                  <a:schemeClr val="tx1"/>
                </a:solidFill>
                <a:effectLst/>
                <a:latin typeface="+mn-lt"/>
              </a:rPr>
              <a:t>origin and name keywords; one scikit-learn pipeline, so the saved file takes the raw columns and returns EUR/kg.</a:t>
            </a:r>
            <a:endParaRPr lang="en-GB"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345142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AEA67-08A3-E2E4-34DD-73890B2F783C}"/>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3851BBD2-5B34-18F8-8AD2-900F6B2570C1}"/>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77D2CF53-7BB3-F81B-2D0F-798930B86244}"/>
              </a:ext>
            </a:extLst>
          </p:cNvPr>
          <p:cNvPicPr>
            <a:picLocks noChangeAspect="1"/>
          </p:cNvPicPr>
          <p:nvPr/>
        </p:nvPicPr>
        <p:blipFill>
          <a:blip r:embed="rId2"/>
          <a:stretch>
            <a:fillRect/>
          </a:stretch>
        </p:blipFill>
        <p:spPr>
          <a:xfrm>
            <a:off x="-14340" y="1066800"/>
            <a:ext cx="12206340" cy="5791200"/>
          </a:xfrm>
          <a:prstGeom prst="rect">
            <a:avLst/>
          </a:prstGeom>
        </p:spPr>
      </p:pic>
      <p:sp>
        <p:nvSpPr>
          <p:cNvPr id="6" name="Content Placeholder 2">
            <a:extLst>
              <a:ext uri="{FF2B5EF4-FFF2-40B4-BE49-F238E27FC236}">
                <a16:creationId xmlns:a16="http://schemas.microsoft.com/office/drawing/2014/main" id="{5B9FEDC2-25F6-A034-5B73-B7AF8C0393E8}"/>
              </a:ext>
            </a:extLst>
          </p:cNvPr>
          <p:cNvSpPr txBox="1">
            <a:spLocks/>
          </p:cNvSpPr>
          <p:nvPr/>
        </p:nvSpPr>
        <p:spPr>
          <a:xfrm>
            <a:off x="220784" y="106241"/>
            <a:ext cx="10515600" cy="44083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dirty="0">
                <a:solidFill>
                  <a:srgbClr val="FF0000"/>
                </a:solidFill>
              </a:rPr>
              <a:t>model_training.py</a:t>
            </a:r>
          </a:p>
          <a:p>
            <a:pPr algn="l"/>
            <a:endParaRPr lang="en-GB" dirty="0"/>
          </a:p>
        </p:txBody>
      </p:sp>
      <p:sp>
        <p:nvSpPr>
          <p:cNvPr id="7" name="Oval 6">
            <a:extLst>
              <a:ext uri="{FF2B5EF4-FFF2-40B4-BE49-F238E27FC236}">
                <a16:creationId xmlns:a16="http://schemas.microsoft.com/office/drawing/2014/main" id="{F9F8E57D-4A76-F12D-9591-DF41C39C40AD}"/>
              </a:ext>
            </a:extLst>
          </p:cNvPr>
          <p:cNvSpPr/>
          <p:nvPr/>
        </p:nvSpPr>
        <p:spPr>
          <a:xfrm>
            <a:off x="3602892" y="2068022"/>
            <a:ext cx="1758462" cy="31566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EC5674C-6334-052A-4E9C-0BD4D59242CD}"/>
              </a:ext>
            </a:extLst>
          </p:cNvPr>
          <p:cNvSpPr txBox="1"/>
          <p:nvPr/>
        </p:nvSpPr>
        <p:spPr>
          <a:xfrm>
            <a:off x="343877" y="622273"/>
            <a:ext cx="4834913" cy="369332"/>
          </a:xfrm>
          <a:prstGeom prst="rect">
            <a:avLst/>
          </a:prstGeom>
          <a:noFill/>
        </p:spPr>
        <p:txBody>
          <a:bodyPr wrap="none" rtlCol="0">
            <a:spAutoFit/>
          </a:bodyPr>
          <a:lstStyle/>
          <a:p>
            <a:r>
              <a:rPr lang="en-GB" dirty="0"/>
              <a:t>Random forest + Gradient Boosting get best score</a:t>
            </a:r>
          </a:p>
        </p:txBody>
      </p:sp>
    </p:spTree>
    <p:extLst>
      <p:ext uri="{BB962C8B-B14F-4D97-AF65-F5344CB8AC3E}">
        <p14:creationId xmlns:p14="http://schemas.microsoft.com/office/powerpoint/2010/main" val="3270498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FA16C-31B5-1D8C-A721-B0A00541736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3D55B0-80CF-53D6-3037-B9832ADD80EC}"/>
              </a:ext>
            </a:extLst>
          </p:cNvPr>
          <p:cNvSpPr>
            <a:spLocks noGrp="1"/>
          </p:cNvSpPr>
          <p:nvPr>
            <p:ph idx="1"/>
          </p:nvPr>
        </p:nvSpPr>
        <p:spPr>
          <a:xfrm>
            <a:off x="220784" y="106241"/>
            <a:ext cx="10515600" cy="440837"/>
          </a:xfrm>
        </p:spPr>
        <p:txBody>
          <a:bodyPr>
            <a:normAutofit fontScale="92500" lnSpcReduction="10000"/>
          </a:bodyPr>
          <a:lstStyle/>
          <a:p>
            <a:r>
              <a:rPr lang="en-GB" dirty="0"/>
              <a:t>model_training_modified.py</a:t>
            </a:r>
          </a:p>
        </p:txBody>
      </p:sp>
      <p:sp>
        <p:nvSpPr>
          <p:cNvPr id="5" name="TextBox 4">
            <a:extLst>
              <a:ext uri="{FF2B5EF4-FFF2-40B4-BE49-F238E27FC236}">
                <a16:creationId xmlns:a16="http://schemas.microsoft.com/office/drawing/2014/main" id="{E88807AB-AE8A-EE6C-080E-59FE41E06869}"/>
              </a:ext>
            </a:extLst>
          </p:cNvPr>
          <p:cNvSpPr txBox="1"/>
          <p:nvPr/>
        </p:nvSpPr>
        <p:spPr>
          <a:xfrm>
            <a:off x="476739" y="721812"/>
            <a:ext cx="10902461" cy="3693319"/>
          </a:xfrm>
          <a:prstGeom prst="rect">
            <a:avLst/>
          </a:prstGeom>
          <a:noFill/>
        </p:spPr>
        <p:txBody>
          <a:bodyPr wrap="square">
            <a:spAutoFit/>
          </a:bodyPr>
          <a:lstStyle/>
          <a:p>
            <a:pPr>
              <a:lnSpc>
                <a:spcPct val="100000"/>
              </a:lnSpc>
              <a:buNone/>
            </a:pPr>
            <a:r>
              <a:rPr lang="en-GB" dirty="0"/>
              <a:t>model_training.py - predict the intrinsic price per kilo of a boxed tea.</a:t>
            </a:r>
          </a:p>
          <a:p>
            <a:r>
              <a:rPr lang="en-GB" dirty="0"/>
              <a:t>Workflow: Filtered to standard ~100g packages to remove packaging markup bias.</a:t>
            </a:r>
          </a:p>
          <a:p>
            <a:endParaRPr lang="en-GB" dirty="0"/>
          </a:p>
          <a:p>
            <a:endParaRPr lang="en-GB" dirty="0"/>
          </a:p>
          <a:p>
            <a:endParaRPr lang="en-GB" dirty="0"/>
          </a:p>
          <a:p>
            <a:endParaRPr lang="en-GB" dirty="0"/>
          </a:p>
          <a:p>
            <a:endParaRPr lang="en-GB" dirty="0"/>
          </a:p>
          <a:p>
            <a:r>
              <a:rPr lang="en-GB" dirty="0"/>
              <a:t>CRITICAL FIX: </a:t>
            </a:r>
          </a:p>
          <a:p>
            <a:r>
              <a:rPr lang="en-GB" dirty="0"/>
              <a:t>REMOVED: "</a:t>
            </a:r>
            <a:r>
              <a:rPr lang="en-GB" dirty="0" err="1"/>
              <a:t>weight_in_g</a:t>
            </a:r>
            <a:r>
              <a:rPr lang="en-GB" dirty="0"/>
              <a:t>" and "</a:t>
            </a:r>
            <a:r>
              <a:rPr lang="en-GB" dirty="0" err="1"/>
              <a:t>log_weight</a:t>
            </a:r>
            <a:r>
              <a:rPr lang="en-GB" dirty="0"/>
              <a:t>" so the model cannot cheat using package size.</a:t>
            </a:r>
          </a:p>
          <a:p>
            <a:r>
              <a:rPr lang="en-GB" dirty="0"/>
              <a:t>Filter to standard ~100g packages </a:t>
            </a:r>
            <a:r>
              <a:rPr lang="zh-CN" altLang="en-US" dirty="0"/>
              <a:t>（</a:t>
            </a:r>
            <a:r>
              <a:rPr lang="en-GB" altLang="zh-CN" dirty="0"/>
              <a:t>80g to 130g)</a:t>
            </a:r>
            <a:endParaRPr lang="en-GB" dirty="0"/>
          </a:p>
          <a:p>
            <a:r>
              <a:rPr lang="en-GB" dirty="0"/>
              <a:t>    # This removes the "packaging markup" bias of 30g or 160g boxes</a:t>
            </a:r>
          </a:p>
          <a:p>
            <a:endParaRPr lang="en-GB" dirty="0"/>
          </a:p>
          <a:p>
            <a:endParaRPr lang="en-GB" dirty="0"/>
          </a:p>
        </p:txBody>
      </p:sp>
    </p:spTree>
    <p:extLst>
      <p:ext uri="{BB962C8B-B14F-4D97-AF65-F5344CB8AC3E}">
        <p14:creationId xmlns:p14="http://schemas.microsoft.com/office/powerpoint/2010/main" val="1243317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262D54-4722-E034-9D55-44A5992019AE}"/>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6C317640-1745-44E7-0E3F-FC39646B787B}"/>
              </a:ext>
            </a:extLst>
          </p:cNvPr>
          <p:cNvPicPr>
            <a:picLocks noChangeAspect="1"/>
          </p:cNvPicPr>
          <p:nvPr/>
        </p:nvPicPr>
        <p:blipFill>
          <a:blip r:embed="rId2"/>
          <a:stretch>
            <a:fillRect/>
          </a:stretch>
        </p:blipFill>
        <p:spPr>
          <a:xfrm>
            <a:off x="0" y="867508"/>
            <a:ext cx="12192000" cy="5990492"/>
          </a:xfrm>
          <a:prstGeom prst="rect">
            <a:avLst/>
          </a:prstGeom>
        </p:spPr>
      </p:pic>
      <p:sp>
        <p:nvSpPr>
          <p:cNvPr id="6" name="Content Placeholder 2">
            <a:extLst>
              <a:ext uri="{FF2B5EF4-FFF2-40B4-BE49-F238E27FC236}">
                <a16:creationId xmlns:a16="http://schemas.microsoft.com/office/drawing/2014/main" id="{FE7D9719-57DF-28FE-1E4D-9161A71CBBDF}"/>
              </a:ext>
            </a:extLst>
          </p:cNvPr>
          <p:cNvSpPr txBox="1">
            <a:spLocks/>
          </p:cNvSpPr>
          <p:nvPr/>
        </p:nvSpPr>
        <p:spPr>
          <a:xfrm>
            <a:off x="64476" y="9769"/>
            <a:ext cx="10515600" cy="44083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FF0000"/>
                </a:solidFill>
              </a:rPr>
              <a:t>model_training_modified.py</a:t>
            </a:r>
          </a:p>
        </p:txBody>
      </p:sp>
      <p:sp>
        <p:nvSpPr>
          <p:cNvPr id="8" name="TextBox 7">
            <a:extLst>
              <a:ext uri="{FF2B5EF4-FFF2-40B4-BE49-F238E27FC236}">
                <a16:creationId xmlns:a16="http://schemas.microsoft.com/office/drawing/2014/main" id="{E5084B79-214B-DD86-7FC0-89757D4BBB7D}"/>
              </a:ext>
            </a:extLst>
          </p:cNvPr>
          <p:cNvSpPr txBox="1"/>
          <p:nvPr/>
        </p:nvSpPr>
        <p:spPr>
          <a:xfrm>
            <a:off x="234462" y="450606"/>
            <a:ext cx="3231141" cy="369332"/>
          </a:xfrm>
          <a:prstGeom prst="rect">
            <a:avLst/>
          </a:prstGeom>
          <a:noFill/>
        </p:spPr>
        <p:txBody>
          <a:bodyPr wrap="none" rtlCol="0">
            <a:spAutoFit/>
          </a:bodyPr>
          <a:lstStyle/>
          <a:p>
            <a:r>
              <a:rPr lang="en-GB" dirty="0"/>
              <a:t>Gradient Boosting get best score</a:t>
            </a:r>
          </a:p>
        </p:txBody>
      </p:sp>
      <p:sp>
        <p:nvSpPr>
          <p:cNvPr id="14" name="Oval 13">
            <a:extLst>
              <a:ext uri="{FF2B5EF4-FFF2-40B4-BE49-F238E27FC236}">
                <a16:creationId xmlns:a16="http://schemas.microsoft.com/office/drawing/2014/main" id="{71560243-9EC9-F0D2-2481-7C13BBD3C8B8}"/>
              </a:ext>
            </a:extLst>
          </p:cNvPr>
          <p:cNvSpPr/>
          <p:nvPr/>
        </p:nvSpPr>
        <p:spPr>
          <a:xfrm>
            <a:off x="3681046" y="2555631"/>
            <a:ext cx="1758462" cy="3516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47856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F9B41-08A5-6153-1967-408151CB2770}"/>
              </a:ext>
            </a:extLst>
          </p:cNvPr>
          <p:cNvSpPr>
            <a:spLocks noGrp="1"/>
          </p:cNvSpPr>
          <p:nvPr>
            <p:ph type="title"/>
          </p:nvPr>
        </p:nvSpPr>
        <p:spPr/>
        <p:txBody>
          <a:bodyPr/>
          <a:lstStyle/>
          <a:p>
            <a:r>
              <a:rPr lang="en-GB" dirty="0"/>
              <a:t>Summary of Model Findings &amp; Insights</a:t>
            </a:r>
          </a:p>
        </p:txBody>
      </p:sp>
      <p:sp>
        <p:nvSpPr>
          <p:cNvPr id="3" name="Content Placeholder 2">
            <a:extLst>
              <a:ext uri="{FF2B5EF4-FFF2-40B4-BE49-F238E27FC236}">
                <a16:creationId xmlns:a16="http://schemas.microsoft.com/office/drawing/2014/main" id="{1833586E-7A21-FE7E-821A-19969CF3D057}"/>
              </a:ext>
            </a:extLst>
          </p:cNvPr>
          <p:cNvSpPr>
            <a:spLocks noGrp="1"/>
          </p:cNvSpPr>
          <p:nvPr>
            <p:ph idx="1"/>
          </p:nvPr>
        </p:nvSpPr>
        <p:spPr/>
        <p:txBody>
          <a:bodyPr/>
          <a:lstStyle/>
          <a:p>
            <a:pPr marL="0" indent="0">
              <a:buNone/>
            </a:pPr>
            <a:r>
              <a:rPr lang="en-GB" b="1"/>
              <a:t>1. The Packaging Bias &amp; Matcha Flaw</a:t>
            </a:r>
          </a:p>
          <a:p>
            <a:pPr marL="0" lvl="0" indent="0">
              <a:buNone/>
            </a:pPr>
            <a:r>
              <a:rPr lang="en-GB" b="1"/>
              <a:t>The Problem:</a:t>
            </a:r>
            <a:r>
              <a:rPr lang="en-GB"/>
              <a:t> Initially, when weight (weight_in_g and log_weight) was included as a feature, the model gave inaccurate predictions for specialty items like matcha.</a:t>
            </a:r>
          </a:p>
          <a:p>
            <a:pPr marL="0" lvl="0" indent="0">
              <a:buNone/>
            </a:pPr>
            <a:r>
              <a:rPr lang="en-GB" b="1"/>
              <a:t>The "Cheating" Mechanism:</a:t>
            </a:r>
            <a:r>
              <a:rPr lang="en-GB"/>
              <a:t> Because high-grade matcha is almost exclusively sold in small 30g tins at premium prices, the model learned a false shortcut: </a:t>
            </a:r>
            <a:r>
              <a:rPr lang="en-GB" i="1"/>
              <a:t>“smaller weight equals a higher price-per-kilo.”</a:t>
            </a:r>
            <a:r>
              <a:rPr lang="en-GB"/>
              <a:t> Instead of looking at the actual quality of the tea, the model was using the physical container size to predict price.</a:t>
            </a:r>
          </a:p>
          <a:p>
            <a:endParaRPr lang="en-GB" dirty="0"/>
          </a:p>
        </p:txBody>
      </p:sp>
    </p:spTree>
    <p:extLst>
      <p:ext uri="{BB962C8B-B14F-4D97-AF65-F5344CB8AC3E}">
        <p14:creationId xmlns:p14="http://schemas.microsoft.com/office/powerpoint/2010/main" val="3397375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B153487-DBCB-B51A-DC6F-75A97D2B28A9}"/>
                  </a:ext>
                </a:extLst>
              </p:cNvPr>
              <p:cNvSpPr txBox="1"/>
              <p:nvPr/>
            </p:nvSpPr>
            <p:spPr>
              <a:xfrm>
                <a:off x="734646" y="483726"/>
                <a:ext cx="10722707" cy="5632311"/>
              </a:xfrm>
              <a:prstGeom prst="rect">
                <a:avLst/>
              </a:prstGeom>
              <a:noFill/>
            </p:spPr>
            <p:txBody>
              <a:bodyPr wrap="square">
                <a:spAutoFit/>
              </a:bodyPr>
              <a:lstStyle/>
              <a:p>
                <a:pPr marL="0" marR="0">
                  <a:buNone/>
                </a:pPr>
                <a:r>
                  <a:rPr lang="en-GB" b="1" dirty="0">
                    <a:effectLst/>
                    <a:latin typeface="+mn-lt"/>
                  </a:rPr>
                  <a:t>2. The Fix: Stripping Out Weight</a:t>
                </a:r>
              </a:p>
              <a:p>
                <a:pPr marL="0" marR="0" lvl="0" indent="-342900">
                  <a:buFont typeface="Arial" panose="020B0604020202020204" pitchFamily="34" charset="0"/>
                  <a:buChar char="•"/>
                </a:pPr>
                <a:r>
                  <a:rPr lang="en-GB" b="1" dirty="0">
                    <a:effectLst/>
                    <a:latin typeface="+mn-lt"/>
                  </a:rPr>
                  <a:t>Removing the Shortcut:</a:t>
                </a:r>
                <a:r>
                  <a:rPr lang="en-GB" dirty="0">
                    <a:effectLst/>
                    <a:latin typeface="+mn-lt"/>
                  </a:rPr>
                  <a:t> To stop the model from exploiting packaging size, </a:t>
                </a:r>
                <a:r>
                  <a:rPr lang="en-GB" dirty="0" err="1">
                    <a:effectLst/>
                    <a:latin typeface="+mn-lt"/>
                  </a:rPr>
                  <a:t>weight_in_g</a:t>
                </a:r>
                <a:r>
                  <a:rPr lang="en-GB" dirty="0">
                    <a:effectLst/>
                    <a:latin typeface="+mn-lt"/>
                  </a:rPr>
                  <a:t> and </a:t>
                </a:r>
                <a:r>
                  <a:rPr lang="en-GB" dirty="0" err="1">
                    <a:effectLst/>
                    <a:latin typeface="+mn-lt"/>
                  </a:rPr>
                  <a:t>log_weight</a:t>
                </a:r>
                <a:r>
                  <a:rPr lang="en-GB" dirty="0">
                    <a:effectLst/>
                    <a:latin typeface="+mn-lt"/>
                  </a:rPr>
                  <a:t> were removed from the training features, and the dataset was filtered to standard ~100g packages (80g to 130g) to eliminate container markup noise. </a:t>
                </a:r>
              </a:p>
              <a:p>
                <a:pPr marL="0" marR="0" lvl="0" indent="-342900">
                  <a:buFont typeface="Arial" panose="020B0604020202020204" pitchFamily="34" charset="0"/>
                  <a:buChar char="•"/>
                </a:pPr>
                <a:r>
                  <a:rPr lang="en-GB" b="1" dirty="0">
                    <a:effectLst/>
                    <a:latin typeface="+mn-lt"/>
                  </a:rPr>
                  <a:t>The Result:</a:t>
                </a:r>
                <a:r>
                  <a:rPr lang="en-GB" dirty="0">
                    <a:effectLst/>
                    <a:latin typeface="+mn-lt"/>
                  </a:rPr>
                  <a:t> The model is no longer allowed to "cheat" using packaging size. It now evaluates teas based on their intrinsic characteristics (company, type, and origin), while letting Python handle box price scaling purely through linear math (Price/kg × Weight). </a:t>
                </a:r>
              </a:p>
              <a:p>
                <a:pPr marL="0" marR="0" lvl="0" indent="-342900">
                  <a:buFont typeface="Arial" panose="020B0604020202020204" pitchFamily="34" charset="0"/>
                  <a:buChar char="•"/>
                </a:pPr>
                <a:endParaRPr lang="en-GB" dirty="0">
                  <a:effectLst/>
                  <a:latin typeface="+mn-lt"/>
                </a:endParaRPr>
              </a:p>
              <a:p>
                <a:pPr marL="0" marR="0">
                  <a:buNone/>
                </a:pPr>
                <a:r>
                  <a:rPr lang="en-GB" b="1" dirty="0">
                    <a:effectLst/>
                    <a:latin typeface="+mn-lt"/>
                  </a:rPr>
                  <a:t>3. Interpreting the </a:t>
                </a:r>
                <a14:m>
                  <m:oMath xmlns:m="http://schemas.openxmlformats.org/officeDocument/2006/math">
                    <m:sSup>
                      <m:sSupPr>
                        <m:ctrlPr>
                          <a:rPr lang="en-GB" i="1">
                            <a:latin typeface="+mn-lt"/>
                          </a:rPr>
                        </m:ctrlPr>
                      </m:sSupPr>
                      <m:e>
                        <m:r>
                          <a:rPr lang="en-GB" i="1">
                            <a:latin typeface="+mn-lt"/>
                          </a:rPr>
                          <m:t>𝑅</m:t>
                        </m:r>
                      </m:e>
                      <m:sup>
                        <m:r>
                          <a:rPr lang="en-GB" i="0">
                            <a:latin typeface="+mn-lt"/>
                          </a:rPr>
                          <m:t>2</m:t>
                        </m:r>
                      </m:sup>
                    </m:sSup>
                  </m:oMath>
                </a14:m>
                <a:r>
                  <a:rPr lang="en-GB" b="1" dirty="0">
                    <a:effectLst/>
                    <a:latin typeface="+mn-lt"/>
                  </a:rPr>
                  <a:t>Drop</a:t>
                </a:r>
              </a:p>
              <a:p>
                <a:pPr marL="0" marR="0" lvl="0" indent="-342900">
                  <a:buFont typeface="Arial" panose="020B0604020202020204" pitchFamily="34" charset="0"/>
                  <a:buChar char="•"/>
                </a:pPr>
                <a:r>
                  <a:rPr lang="en-GB" b="1" dirty="0">
                    <a:effectLst/>
                    <a:latin typeface="+mn-lt"/>
                  </a:rPr>
                  <a:t>The Metrics:</a:t>
                </a:r>
                <a:r>
                  <a:rPr lang="en-GB" dirty="0">
                    <a:effectLst/>
                    <a:latin typeface="+mn-lt"/>
                  </a:rPr>
                  <a:t> After removing weight features, the model's test </a:t>
                </a:r>
                <a14:m>
                  <m:oMath xmlns:m="http://schemas.openxmlformats.org/officeDocument/2006/math">
                    <m:sSup>
                      <m:sSupPr>
                        <m:ctrlPr>
                          <a:rPr lang="en-GB" i="1">
                            <a:latin typeface="+mn-lt"/>
                          </a:rPr>
                        </m:ctrlPr>
                      </m:sSupPr>
                      <m:e>
                        <m:r>
                          <a:rPr lang="en-GB" i="1">
                            <a:latin typeface="+mn-lt"/>
                          </a:rPr>
                          <m:t>𝑅</m:t>
                        </m:r>
                      </m:e>
                      <m:sup>
                        <m:r>
                          <a:rPr lang="en-GB" i="0">
                            <a:latin typeface="+mn-lt"/>
                          </a:rPr>
                          <m:t>2</m:t>
                        </m:r>
                      </m:sup>
                    </m:sSup>
                  </m:oMath>
                </a14:m>
                <a:r>
                  <a:rPr lang="en-GB" dirty="0">
                    <a:effectLst/>
                    <a:latin typeface="+mn-lt"/>
                  </a:rPr>
                  <a:t>sits around </a:t>
                </a:r>
                <a:r>
                  <a:rPr lang="en-GB" b="1" dirty="0">
                    <a:effectLst/>
                    <a:latin typeface="+mn-lt"/>
                  </a:rPr>
                  <a:t>0.51</a:t>
                </a:r>
                <a:r>
                  <a:rPr lang="en-GB" dirty="0">
                    <a:effectLst/>
                    <a:latin typeface="+mn-lt"/>
                  </a:rPr>
                  <a:t> (EUR). </a:t>
                </a:r>
              </a:p>
              <a:p>
                <a:pPr marL="0" marR="0" lvl="0" indent="-342900">
                  <a:buFont typeface="Arial" panose="020B0604020202020204" pitchFamily="34" charset="0"/>
                  <a:buChar char="•"/>
                </a:pPr>
                <a:r>
                  <a:rPr lang="en-GB" b="1" dirty="0">
                    <a:effectLst/>
                    <a:latin typeface="+mn-lt"/>
                  </a:rPr>
                  <a:t>Why This is Healthier:</a:t>
                </a:r>
                <a:r>
                  <a:rPr lang="en-GB" dirty="0">
                    <a:effectLst/>
                    <a:latin typeface="+mn-lt"/>
                  </a:rPr>
                  <a:t> Although the </a:t>
                </a:r>
                <a14:m>
                  <m:oMath xmlns:m="http://schemas.openxmlformats.org/officeDocument/2006/math">
                    <m:sSup>
                      <m:sSupPr>
                        <m:ctrlPr>
                          <a:rPr lang="en-GB" i="1">
                            <a:latin typeface="+mn-lt"/>
                          </a:rPr>
                        </m:ctrlPr>
                      </m:sSupPr>
                      <m:e>
                        <m:r>
                          <a:rPr lang="en-GB" i="1">
                            <a:latin typeface="+mn-lt"/>
                          </a:rPr>
                          <m:t>𝑅</m:t>
                        </m:r>
                      </m:e>
                      <m:sup>
                        <m:r>
                          <a:rPr lang="en-GB" i="0">
                            <a:latin typeface="+mn-lt"/>
                          </a:rPr>
                          <m:t>2</m:t>
                        </m:r>
                      </m:sup>
                    </m:sSup>
                  </m:oMath>
                </a14:m>
                <a:r>
                  <a:rPr lang="en-GB" dirty="0">
                    <a:effectLst/>
                    <a:latin typeface="+mn-lt"/>
                  </a:rPr>
                  <a:t>dropped on paper, it represents a much more honest and robust real-world model. The previous higher score was artificially inflated because the model was just memorizing container sizes rather than learning true market value.</a:t>
                </a:r>
              </a:p>
              <a:p>
                <a:pPr marL="0" marR="0" lvl="0" indent="-342900">
                  <a:buFont typeface="Arial" panose="020B0604020202020204" pitchFamily="34" charset="0"/>
                  <a:buChar char="•"/>
                </a:pPr>
                <a:endParaRPr lang="en-GB" dirty="0">
                  <a:effectLst/>
                  <a:latin typeface="+mn-lt"/>
                </a:endParaRPr>
              </a:p>
              <a:p>
                <a:pPr marL="0" marR="0">
                  <a:buNone/>
                </a:pPr>
                <a:r>
                  <a:rPr lang="en-GB" b="1" dirty="0">
                    <a:effectLst/>
                    <a:latin typeface="+mn-lt"/>
                  </a:rPr>
                  <a:t>4. The Dominance of the Brand/Company</a:t>
                </a:r>
              </a:p>
              <a:p>
                <a:pPr marL="0" marR="0" lvl="0" indent="-342900">
                  <a:buFont typeface="Arial" panose="020B0604020202020204" pitchFamily="34" charset="0"/>
                  <a:buChar char="•"/>
                </a:pPr>
                <a:r>
                  <a:rPr lang="en-GB" b="1" dirty="0">
                    <a:effectLst/>
                    <a:latin typeface="+mn-lt"/>
                  </a:rPr>
                  <a:t>Shop Median vs. Model:</a:t>
                </a:r>
                <a:r>
                  <a:rPr lang="en-GB" dirty="0">
                    <a:effectLst/>
                    <a:latin typeface="+mn-lt"/>
                  </a:rPr>
                  <a:t> The simple "shop's median" baseline yields an </a:t>
                </a:r>
                <a14:m>
                  <m:oMath xmlns:m="http://schemas.openxmlformats.org/officeDocument/2006/math">
                    <m:sSup>
                      <m:sSupPr>
                        <m:ctrlPr>
                          <a:rPr lang="en-GB" i="1">
                            <a:latin typeface="+mn-lt"/>
                          </a:rPr>
                        </m:ctrlPr>
                      </m:sSupPr>
                      <m:e>
                        <m:r>
                          <a:rPr lang="en-GB" i="1">
                            <a:latin typeface="+mn-lt"/>
                          </a:rPr>
                          <m:t>𝑅</m:t>
                        </m:r>
                      </m:e>
                      <m:sup>
                        <m:r>
                          <a:rPr lang="en-GB" i="0">
                            <a:latin typeface="+mn-lt"/>
                          </a:rPr>
                          <m:t>2</m:t>
                        </m:r>
                      </m:sup>
                    </m:sSup>
                  </m:oMath>
                </a14:m>
                <a:r>
                  <a:rPr lang="en-GB" dirty="0">
                    <a:effectLst/>
                    <a:latin typeface="+mn-lt"/>
                  </a:rPr>
                  <a:t>of </a:t>
                </a:r>
                <a:r>
                  <a:rPr lang="en-GB" b="1" dirty="0">
                    <a:effectLst/>
                    <a:latin typeface="+mn-lt"/>
                  </a:rPr>
                  <a:t>0.46</a:t>
                </a:r>
                <a:r>
                  <a:rPr lang="en-GB" dirty="0">
                    <a:effectLst/>
                    <a:latin typeface="+mn-lt"/>
                  </a:rPr>
                  <a:t>, which is extremely close to the full model's test </a:t>
                </a:r>
                <a14:m>
                  <m:oMath xmlns:m="http://schemas.openxmlformats.org/officeDocument/2006/math">
                    <m:sSup>
                      <m:sSupPr>
                        <m:ctrlPr>
                          <a:rPr lang="en-GB" i="1">
                            <a:latin typeface="+mn-lt"/>
                          </a:rPr>
                        </m:ctrlPr>
                      </m:sSupPr>
                      <m:e>
                        <m:r>
                          <a:rPr lang="en-GB" i="1">
                            <a:latin typeface="+mn-lt"/>
                          </a:rPr>
                          <m:t>𝑅</m:t>
                        </m:r>
                      </m:e>
                      <m:sup>
                        <m:r>
                          <a:rPr lang="en-GB" i="0">
                            <a:latin typeface="+mn-lt"/>
                          </a:rPr>
                          <m:t>2</m:t>
                        </m:r>
                      </m:sup>
                    </m:sSup>
                  </m:oMath>
                </a14:m>
                <a:r>
                  <a:rPr lang="en-GB" dirty="0">
                    <a:effectLst/>
                    <a:latin typeface="+mn-lt"/>
                  </a:rPr>
                  <a:t>of </a:t>
                </a:r>
                <a:r>
                  <a:rPr lang="en-GB" b="1" dirty="0">
                    <a:effectLst/>
                    <a:latin typeface="+mn-lt"/>
                  </a:rPr>
                  <a:t>0.51</a:t>
                </a:r>
                <a:r>
                  <a:rPr lang="en-GB" dirty="0">
                    <a:effectLst/>
                    <a:latin typeface="+mn-lt"/>
                  </a:rPr>
                  <a:t>. </a:t>
                </a:r>
              </a:p>
              <a:p>
                <a:pPr marL="0" marR="0" lvl="0" indent="-342900">
                  <a:buFont typeface="Arial" panose="020B0604020202020204" pitchFamily="34" charset="0"/>
                  <a:buChar char="•"/>
                </a:pPr>
                <a:r>
                  <a:rPr lang="en-GB" b="1" dirty="0">
                    <a:effectLst/>
                    <a:latin typeface="+mn-lt"/>
                  </a:rPr>
                  <a:t>Key Economic Insight:</a:t>
                </a:r>
                <a:r>
                  <a:rPr lang="en-GB" dirty="0">
                    <a:effectLst/>
                    <a:latin typeface="+mn-lt"/>
                  </a:rPr>
                  <a:t> This close gap proves that </a:t>
                </a:r>
                <a:r>
                  <a:rPr lang="en-GB" b="1" dirty="0">
                    <a:effectLst/>
                    <a:latin typeface="+mn-lt"/>
                  </a:rPr>
                  <a:t>brand and company positioning (e.g., Mariage Frères) is the single most dominant factor</a:t>
                </a:r>
                <a:r>
                  <a:rPr lang="en-GB" dirty="0">
                    <a:effectLst/>
                    <a:latin typeface="+mn-lt"/>
                  </a:rPr>
                  <a:t> driving tea prices in the market. The brand establishes the core prestige baseline, while the specific tea type and origin provide the fine-tuning. </a:t>
                </a:r>
                <a:endParaRPr lang="en-GB" dirty="0">
                  <a:effectLst/>
                  <a:latin typeface="Google Sans Text"/>
                </a:endParaRPr>
              </a:p>
            </p:txBody>
          </p:sp>
        </mc:Choice>
        <mc:Fallback xmlns="">
          <p:sp>
            <p:nvSpPr>
              <p:cNvPr id="7" name="TextBox 6">
                <a:extLst>
                  <a:ext uri="{FF2B5EF4-FFF2-40B4-BE49-F238E27FC236}">
                    <a16:creationId xmlns:a16="http://schemas.microsoft.com/office/drawing/2014/main" id="{8B153487-DBCB-B51A-DC6F-75A97D2B28A9}"/>
                  </a:ext>
                </a:extLst>
              </p:cNvPr>
              <p:cNvSpPr txBox="1">
                <a:spLocks noRot="1" noChangeAspect="1" noMove="1" noResize="1" noEditPoints="1" noAdjustHandles="1" noChangeArrowheads="1" noChangeShapeType="1" noTextEdit="1"/>
              </p:cNvSpPr>
              <p:nvPr/>
            </p:nvSpPr>
            <p:spPr>
              <a:xfrm>
                <a:off x="734646" y="483726"/>
                <a:ext cx="10722707" cy="5632311"/>
              </a:xfrm>
              <a:prstGeom prst="rect">
                <a:avLst/>
              </a:prstGeom>
              <a:blipFill>
                <a:blip r:embed="rId2"/>
                <a:stretch>
                  <a:fillRect l="-512" t="-541" r="-796" b="-758"/>
                </a:stretch>
              </a:blipFill>
            </p:spPr>
            <p:txBody>
              <a:bodyPr/>
              <a:lstStyle/>
              <a:p>
                <a:r>
                  <a:rPr lang="en-GB">
                    <a:noFill/>
                  </a:rPr>
                  <a:t> </a:t>
                </a:r>
              </a:p>
            </p:txBody>
          </p:sp>
        </mc:Fallback>
      </mc:AlternateContent>
    </p:spTree>
    <p:extLst>
      <p:ext uri="{BB962C8B-B14F-4D97-AF65-F5344CB8AC3E}">
        <p14:creationId xmlns:p14="http://schemas.microsoft.com/office/powerpoint/2010/main" val="2989682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5092B4-6BBD-B6BD-DC26-792C8FFE0553}"/>
              </a:ext>
            </a:extLst>
          </p:cNvPr>
          <p:cNvSpPr txBox="1"/>
          <p:nvPr/>
        </p:nvSpPr>
        <p:spPr>
          <a:xfrm>
            <a:off x="211016" y="0"/>
            <a:ext cx="6096000" cy="369332"/>
          </a:xfrm>
          <a:prstGeom prst="rect">
            <a:avLst/>
          </a:prstGeom>
          <a:noFill/>
        </p:spPr>
        <p:txBody>
          <a:bodyPr wrap="square">
            <a:spAutoFit/>
          </a:bodyPr>
          <a:lstStyle/>
          <a:p>
            <a:r>
              <a:rPr lang="en-GB" dirty="0">
                <a:solidFill>
                  <a:srgbClr val="FF0000"/>
                </a:solidFill>
              </a:rPr>
              <a:t>model_training_improved.py</a:t>
            </a:r>
          </a:p>
        </p:txBody>
      </p:sp>
      <p:sp>
        <p:nvSpPr>
          <p:cNvPr id="7" name="TextBox 6">
            <a:extLst>
              <a:ext uri="{FF2B5EF4-FFF2-40B4-BE49-F238E27FC236}">
                <a16:creationId xmlns:a16="http://schemas.microsoft.com/office/drawing/2014/main" id="{F6218079-AFE6-6C87-4CA7-224EB7DA6782}"/>
              </a:ext>
            </a:extLst>
          </p:cNvPr>
          <p:cNvSpPr txBox="1"/>
          <p:nvPr/>
        </p:nvSpPr>
        <p:spPr>
          <a:xfrm>
            <a:off x="160216" y="429846"/>
            <a:ext cx="11871568" cy="5909310"/>
          </a:xfrm>
          <a:prstGeom prst="rect">
            <a:avLst/>
          </a:prstGeom>
          <a:noFill/>
        </p:spPr>
        <p:txBody>
          <a:bodyPr wrap="square">
            <a:spAutoFit/>
          </a:bodyPr>
          <a:lstStyle/>
          <a:p>
            <a:pPr>
              <a:buNone/>
            </a:pPr>
            <a:r>
              <a:rPr lang="en-GB" dirty="0"/>
              <a:t>In the 2-stage machine learning pipeline, </a:t>
            </a:r>
            <a:r>
              <a:rPr lang="en-GB" b="1" dirty="0"/>
              <a:t>Stage 1 (the SVM Tier Classifier)</a:t>
            </a:r>
            <a:r>
              <a:rPr lang="en-GB" dirty="0"/>
              <a:t> serves as the semantic brain of the model. While Stage 2 looks at the broader numbers and shop categories, Stage 1 focuses entirely on understanding </a:t>
            </a:r>
            <a:r>
              <a:rPr lang="en-GB" b="1" dirty="0"/>
              <a:t>what kind of product it is based on its name and metadata</a:t>
            </a:r>
            <a:r>
              <a:rPr lang="en-GB" dirty="0"/>
              <a:t>.</a:t>
            </a:r>
          </a:p>
          <a:p>
            <a:pPr>
              <a:buNone/>
            </a:pPr>
            <a:r>
              <a:rPr lang="en-GB" dirty="0"/>
              <a:t>Here is specifically what Stage 1 contributes to the pipeline:</a:t>
            </a:r>
          </a:p>
          <a:p>
            <a:pPr>
              <a:buNone/>
            </a:pPr>
            <a:r>
              <a:rPr lang="en-GB" b="1" dirty="0"/>
              <a:t>1. Unlocks Text Intelligence (TF-IDF + SVM)</a:t>
            </a:r>
          </a:p>
          <a:p>
            <a:pPr>
              <a:buNone/>
            </a:pPr>
            <a:r>
              <a:rPr lang="en-GB" dirty="0"/>
              <a:t>Machine learning regression models cannot read product names like </a:t>
            </a:r>
            <a:r>
              <a:rPr lang="en-GB" i="1" dirty="0"/>
              <a:t>"Uji Matcha Ceremonial Grand Cru"</a:t>
            </a:r>
            <a:r>
              <a:rPr lang="en-GB" dirty="0"/>
              <a:t> directly.</a:t>
            </a:r>
          </a:p>
          <a:p>
            <a:pPr marL="342900" lvl="0" indent="-342900">
              <a:buFont typeface="Arial" panose="020B0604020202020204" pitchFamily="34" charset="0"/>
              <a:buChar char="•"/>
            </a:pPr>
            <a:r>
              <a:rPr lang="en-GB" dirty="0"/>
              <a:t>Stage 1 uses </a:t>
            </a:r>
            <a:r>
              <a:rPr lang="en-GB" b="1" dirty="0"/>
              <a:t>TF-IDF</a:t>
            </a:r>
            <a:r>
              <a:rPr lang="en-GB" dirty="0"/>
              <a:t> to scan the product name for luxury or discount keywords.</a:t>
            </a:r>
          </a:p>
          <a:p>
            <a:pPr marL="342900" lvl="0" indent="-342900">
              <a:buFont typeface="Arial" panose="020B0604020202020204" pitchFamily="34" charset="0"/>
              <a:buChar char="•"/>
            </a:pPr>
            <a:r>
              <a:rPr lang="en-GB" dirty="0"/>
              <a:t>The </a:t>
            </a:r>
            <a:r>
              <a:rPr lang="en-GB" b="1" dirty="0"/>
              <a:t>SVM (Support Vector Machine)</a:t>
            </a:r>
            <a:r>
              <a:rPr lang="en-GB" dirty="0"/>
              <a:t> classifier learns which combinations of words and characters strongly correlate with high-end vs. everyday pricing.</a:t>
            </a:r>
          </a:p>
          <a:p>
            <a:pPr>
              <a:buNone/>
            </a:pPr>
            <a:r>
              <a:rPr lang="en-GB" b="1" dirty="0"/>
              <a:t>2. Provides Nuanced Confidence Probabilities (</a:t>
            </a:r>
            <a:r>
              <a:rPr lang="en-GB" b="1" dirty="0" err="1">
                <a:latin typeface="+mn-lt"/>
              </a:rPr>
              <a:t>p_tier</a:t>
            </a:r>
            <a:r>
              <a:rPr lang="en-GB" b="1" dirty="0"/>
              <a:t>)</a:t>
            </a:r>
          </a:p>
          <a:p>
            <a:pPr>
              <a:buNone/>
            </a:pPr>
            <a:r>
              <a:rPr lang="en-GB" dirty="0"/>
              <a:t>Stage 1 does not just output a rigid label (e.g., </a:t>
            </a:r>
            <a:r>
              <a:rPr lang="en-GB" i="1" dirty="0"/>
              <a:t>"This is Luxury"</a:t>
            </a:r>
            <a:r>
              <a:rPr lang="en-GB" dirty="0"/>
              <a:t>). Instead, it outputs a </a:t>
            </a:r>
            <a:r>
              <a:rPr lang="en-GB" b="1" dirty="0"/>
              <a:t>probability distribution across all four tiers</a:t>
            </a:r>
            <a:r>
              <a:rPr lang="en-GB" dirty="0"/>
              <a:t> (Discount, Normal, Premium, Luxury).</a:t>
            </a:r>
          </a:p>
          <a:p>
            <a:pPr marL="342900" lvl="0" indent="-342900">
              <a:buFont typeface="Arial" panose="020B0604020202020204" pitchFamily="34" charset="0"/>
              <a:buChar char="•"/>
            </a:pPr>
            <a:r>
              <a:rPr lang="en-GB" dirty="0"/>
              <a:t>For example, it might predict: </a:t>
            </a:r>
            <a:r>
              <a:rPr lang="en-GB" i="1" dirty="0"/>
              <a:t>80% Luxury, 18% Premium, 2% Normal, 0% Discount</a:t>
            </a:r>
            <a:r>
              <a:rPr lang="en-GB" dirty="0"/>
              <a:t>.</a:t>
            </a:r>
          </a:p>
          <a:p>
            <a:pPr marL="342900" lvl="0" indent="-342900">
              <a:buFont typeface="Arial" panose="020B0604020202020204" pitchFamily="34" charset="0"/>
              <a:buChar char="•"/>
            </a:pPr>
            <a:r>
              <a:rPr lang="en-GB" dirty="0"/>
              <a:t>Passing these probability scores into Stage 2 gives the final price regressor a nuanced "confidence signal" rather than a blunt category tag.</a:t>
            </a:r>
          </a:p>
          <a:p>
            <a:pPr>
              <a:buNone/>
            </a:pPr>
            <a:r>
              <a:rPr lang="en-GB" b="1" dirty="0"/>
              <a:t>3. Solves the Within-Shop Pricing Problem</a:t>
            </a:r>
          </a:p>
          <a:p>
            <a:pPr>
              <a:buNone/>
            </a:pPr>
            <a:r>
              <a:rPr lang="en-GB" dirty="0"/>
              <a:t>As you noticed earlier, a shop's median price accounts for ~46% of variance, but it struggles to tell the difference between a cheap €15 everyday black tea and an expensive €300 rare ceremonial matcha sold at the </a:t>
            </a:r>
            <a:r>
              <a:rPr lang="en-GB" i="1" dirty="0"/>
              <a:t>exact same shop</a:t>
            </a:r>
            <a:r>
              <a:rPr lang="en-GB" dirty="0"/>
              <a:t>.</a:t>
            </a:r>
          </a:p>
          <a:p>
            <a:pPr>
              <a:buNone/>
            </a:pPr>
            <a:endParaRPr lang="en-GB" dirty="0"/>
          </a:p>
          <a:p>
            <a:r>
              <a:rPr lang="en-GB" dirty="0"/>
              <a:t>Stage 2</a:t>
            </a:r>
            <a:r>
              <a:rPr lang="zh-CN" altLang="en-US" dirty="0"/>
              <a:t>： </a:t>
            </a:r>
            <a:r>
              <a:rPr lang="en-US" altLang="zh-CN" dirty="0"/>
              <a:t>Same as in other models: random forest + gradient boosting</a:t>
            </a:r>
            <a:endParaRPr lang="en-GB" dirty="0"/>
          </a:p>
          <a:p>
            <a:pPr>
              <a:buNone/>
            </a:pPr>
            <a:endParaRPr lang="en-GB" dirty="0"/>
          </a:p>
        </p:txBody>
      </p:sp>
    </p:spTree>
    <p:extLst>
      <p:ext uri="{BB962C8B-B14F-4D97-AF65-F5344CB8AC3E}">
        <p14:creationId xmlns:p14="http://schemas.microsoft.com/office/powerpoint/2010/main" val="3032644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F5821-8598-E3E8-EDC3-A55AD5B1BABF}"/>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BFA3B09F-704C-3A82-3DE4-10A393244A1A}"/>
              </a:ext>
            </a:extLst>
          </p:cNvPr>
          <p:cNvPicPr>
            <a:picLocks noChangeAspect="1"/>
          </p:cNvPicPr>
          <p:nvPr/>
        </p:nvPicPr>
        <p:blipFill>
          <a:blip r:embed="rId2"/>
          <a:stretch>
            <a:fillRect/>
          </a:stretch>
        </p:blipFill>
        <p:spPr>
          <a:xfrm>
            <a:off x="0" y="1156206"/>
            <a:ext cx="12192000" cy="5690176"/>
          </a:xfrm>
          <a:prstGeom prst="rect">
            <a:avLst/>
          </a:prstGeom>
        </p:spPr>
      </p:pic>
      <p:sp>
        <p:nvSpPr>
          <p:cNvPr id="7" name="TextBox 6">
            <a:extLst>
              <a:ext uri="{FF2B5EF4-FFF2-40B4-BE49-F238E27FC236}">
                <a16:creationId xmlns:a16="http://schemas.microsoft.com/office/drawing/2014/main" id="{6F725DD0-1557-5340-7514-6716BB9CBF59}"/>
              </a:ext>
            </a:extLst>
          </p:cNvPr>
          <p:cNvSpPr txBox="1"/>
          <p:nvPr/>
        </p:nvSpPr>
        <p:spPr>
          <a:xfrm>
            <a:off x="211016" y="0"/>
            <a:ext cx="6096000" cy="369332"/>
          </a:xfrm>
          <a:prstGeom prst="rect">
            <a:avLst/>
          </a:prstGeom>
          <a:noFill/>
        </p:spPr>
        <p:txBody>
          <a:bodyPr wrap="square">
            <a:spAutoFit/>
          </a:bodyPr>
          <a:lstStyle/>
          <a:p>
            <a:r>
              <a:rPr lang="en-GB" dirty="0">
                <a:solidFill>
                  <a:srgbClr val="FF0000"/>
                </a:solidFill>
              </a:rPr>
              <a:t>model_training_improved.py</a:t>
            </a:r>
          </a:p>
        </p:txBody>
      </p:sp>
      <p:sp>
        <p:nvSpPr>
          <p:cNvPr id="9" name="Oval 8">
            <a:extLst>
              <a:ext uri="{FF2B5EF4-FFF2-40B4-BE49-F238E27FC236}">
                <a16:creationId xmlns:a16="http://schemas.microsoft.com/office/drawing/2014/main" id="{378C3656-202C-5976-AB21-95A4E254EFDB}"/>
              </a:ext>
            </a:extLst>
          </p:cNvPr>
          <p:cNvSpPr/>
          <p:nvPr/>
        </p:nvSpPr>
        <p:spPr>
          <a:xfrm>
            <a:off x="3876430" y="3165231"/>
            <a:ext cx="1758462" cy="3516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95080D05-435F-4DBE-75C1-40A1BCB673A0}"/>
              </a:ext>
            </a:extLst>
          </p:cNvPr>
          <p:cNvSpPr txBox="1"/>
          <p:nvPr/>
        </p:nvSpPr>
        <p:spPr>
          <a:xfrm>
            <a:off x="234462" y="450606"/>
            <a:ext cx="3231141" cy="369332"/>
          </a:xfrm>
          <a:prstGeom prst="rect">
            <a:avLst/>
          </a:prstGeom>
          <a:noFill/>
        </p:spPr>
        <p:txBody>
          <a:bodyPr wrap="none" rtlCol="0">
            <a:spAutoFit/>
          </a:bodyPr>
          <a:lstStyle/>
          <a:p>
            <a:r>
              <a:rPr lang="en-GB" dirty="0"/>
              <a:t>Gradient Boosting get best score</a:t>
            </a:r>
          </a:p>
        </p:txBody>
      </p:sp>
      <p:sp>
        <p:nvSpPr>
          <p:cNvPr id="13" name="TextBox 12">
            <a:extLst>
              <a:ext uri="{FF2B5EF4-FFF2-40B4-BE49-F238E27FC236}">
                <a16:creationId xmlns:a16="http://schemas.microsoft.com/office/drawing/2014/main" id="{30BD8BDA-DC54-6646-F983-FADD2C1A5415}"/>
              </a:ext>
            </a:extLst>
          </p:cNvPr>
          <p:cNvSpPr txBox="1"/>
          <p:nvPr/>
        </p:nvSpPr>
        <p:spPr>
          <a:xfrm>
            <a:off x="164123" y="689538"/>
            <a:ext cx="9777046" cy="369332"/>
          </a:xfrm>
          <a:prstGeom prst="rect">
            <a:avLst/>
          </a:prstGeom>
          <a:noFill/>
        </p:spPr>
        <p:txBody>
          <a:bodyPr wrap="square">
            <a:spAutoFit/>
          </a:bodyPr>
          <a:lstStyle/>
          <a:p>
            <a:pPr>
              <a:lnSpc>
                <a:spcPct val="100000"/>
              </a:lnSpc>
              <a:buNone/>
            </a:pPr>
            <a:r>
              <a:rPr lang="en-GB" sz="1800" b="0" dirty="0">
                <a:solidFill>
                  <a:schemeClr val="tx1"/>
                </a:solidFill>
                <a:effectLst/>
                <a:latin typeface="+mn-lt"/>
              </a:rPr>
              <a:t> Filter to standard ~100g packages (80g to 130g) is not applied in this version</a:t>
            </a:r>
            <a:endParaRPr lang="en-GB" sz="1050" b="0" dirty="0">
              <a:solidFill>
                <a:srgbClr val="BBBEBF"/>
              </a:solidFill>
              <a:effectLst/>
              <a:latin typeface="Consolas" panose="020B0609020204030204" pitchFamily="49" charset="0"/>
            </a:endParaRPr>
          </a:p>
        </p:txBody>
      </p:sp>
      <p:sp>
        <p:nvSpPr>
          <p:cNvPr id="15" name="Oval 14">
            <a:extLst>
              <a:ext uri="{FF2B5EF4-FFF2-40B4-BE49-F238E27FC236}">
                <a16:creationId xmlns:a16="http://schemas.microsoft.com/office/drawing/2014/main" id="{9C29B3DE-AE58-5505-74FE-33D06D59999F}"/>
              </a:ext>
            </a:extLst>
          </p:cNvPr>
          <p:cNvSpPr/>
          <p:nvPr/>
        </p:nvSpPr>
        <p:spPr>
          <a:xfrm>
            <a:off x="3708399" y="6001117"/>
            <a:ext cx="1758462" cy="3516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76152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9EC4-D123-74DD-FA91-0AA8ACD499BC}"/>
              </a:ext>
            </a:extLst>
          </p:cNvPr>
          <p:cNvSpPr>
            <a:spLocks noGrp="1"/>
          </p:cNvSpPr>
          <p:nvPr>
            <p:ph type="title"/>
          </p:nvPr>
        </p:nvSpPr>
        <p:spPr>
          <a:xfrm>
            <a:off x="119185" y="-111614"/>
            <a:ext cx="10515600" cy="1325563"/>
          </a:xfrm>
        </p:spPr>
        <p:txBody>
          <a:bodyPr/>
          <a:lstStyle/>
          <a:p>
            <a:r>
              <a:rPr lang="en-GB" dirty="0"/>
              <a:t>tea_evaluator.py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C7469A-CC37-B7E5-3E01-614697E057B9}"/>
                  </a:ext>
                </a:extLst>
              </p:cNvPr>
              <p:cNvSpPr>
                <a:spLocks noGrp="1"/>
              </p:cNvSpPr>
              <p:nvPr>
                <p:ph idx="1"/>
              </p:nvPr>
            </p:nvSpPr>
            <p:spPr>
              <a:xfrm>
                <a:off x="252047" y="1489564"/>
                <a:ext cx="10515600" cy="4351338"/>
              </a:xfrm>
            </p:spPr>
            <p:txBody>
              <a:bodyPr/>
              <a:lstStyle/>
              <a:p>
                <a:pPr lvl="0"/>
                <a:r>
                  <a:rPr lang="en-GB" b="1" dirty="0"/>
                  <a:t>Unbiased Price-per-Kilo Prediction:</a:t>
                </a:r>
                <a:r>
                  <a:rPr lang="en-GB" dirty="0"/>
                  <a:t> The machine learning model strictly predicts the base market rate per kilogram (€/kg) using intrinsic features (company, </a:t>
                </a:r>
                <a:r>
                  <a:rPr lang="en-GB" dirty="0" err="1"/>
                  <a:t>tea_type</a:t>
                </a:r>
                <a:r>
                  <a:rPr lang="en-GB" dirty="0"/>
                  <a:t>, country, name).</a:t>
                </a:r>
              </a:p>
              <a:p>
                <a:pPr lvl="0"/>
                <a:r>
                  <a:rPr lang="en-GB" b="1" dirty="0"/>
                  <a:t>Linear Weight Scaling:</a:t>
                </a:r>
                <a:r>
                  <a:rPr lang="en-GB" dirty="0"/>
                  <a:t> Box prices are computed mathematically in Python (</a:t>
                </a:r>
                <a14:m>
                  <m:oMath xmlns:m="http://schemas.openxmlformats.org/officeDocument/2006/math">
                    <m:r>
                      <m:rPr>
                        <m:nor/>
                      </m:rPr>
                      <a:rPr lang="en-GB" i="0"/>
                      <m:t>Expected Box Price</m:t>
                    </m:r>
                    <m:r>
                      <a:rPr lang="en-GB">
                        <a:latin typeface="Cambria Math" panose="02040503050406030204" pitchFamily="18" charset="0"/>
                      </a:rPr>
                      <m:t>=</m:t>
                    </m:r>
                    <m:r>
                      <m:rPr>
                        <m:nor/>
                      </m:rPr>
                      <a:rPr lang="en-GB" i="0"/>
                      <m:t>Price/kg</m:t>
                    </m:r>
                    <m:r>
                      <a:rPr lang="en-GB">
                        <a:latin typeface="Cambria Math" panose="02040503050406030204" pitchFamily="18" charset="0"/>
                      </a:rPr>
                      <m:t>×</m:t>
                    </m:r>
                    <m:f>
                      <m:fPr>
                        <m:ctrlPr>
                          <a:rPr lang="en-GB" i="0"/>
                        </m:ctrlPr>
                      </m:fPr>
                      <m:num>
                        <m:r>
                          <m:rPr>
                            <m:nor/>
                          </m:rPr>
                          <a:rPr lang="en-GB" i="0"/>
                          <m:t>Weight (g)</m:t>
                        </m:r>
                      </m:num>
                      <m:den>
                        <m:r>
                          <a:rPr lang="en-GB">
                            <a:latin typeface="Cambria Math" panose="02040503050406030204" pitchFamily="18" charset="0"/>
                          </a:rPr>
                          <m:t>1000</m:t>
                        </m:r>
                      </m:den>
                    </m:f>
                  </m:oMath>
                </a14:m>
                <a:r>
                  <a:rPr lang="en-GB" dirty="0"/>
                  <a:t>), ensuring that evaluating an 80g, 100g, or 130g box scales directly and predictably.</a:t>
                </a:r>
              </a:p>
              <a:p>
                <a:pPr lvl="0"/>
                <a:r>
                  <a:rPr lang="en-GB" b="1" dirty="0"/>
                  <a:t>Range Identification:</a:t>
                </a:r>
                <a:r>
                  <a:rPr lang="en-GB" dirty="0"/>
                  <a:t> The script explicitly identifies standard 80g–130g package evaluation and reports price comparisons both per-box and per-kilogram.</a:t>
                </a:r>
              </a:p>
              <a:p>
                <a:endParaRPr lang="en-GB" dirty="0"/>
              </a:p>
            </p:txBody>
          </p:sp>
        </mc:Choice>
        <mc:Fallback xmlns="">
          <p:sp>
            <p:nvSpPr>
              <p:cNvPr id="3" name="Content Placeholder 2">
                <a:extLst>
                  <a:ext uri="{FF2B5EF4-FFF2-40B4-BE49-F238E27FC236}">
                    <a16:creationId xmlns:a16="http://schemas.microsoft.com/office/drawing/2014/main" id="{C4C7469A-CC37-B7E5-3E01-614697E057B9}"/>
                  </a:ext>
                </a:extLst>
              </p:cNvPr>
              <p:cNvSpPr>
                <a:spLocks noGrp="1" noRot="1" noChangeAspect="1" noMove="1" noResize="1" noEditPoints="1" noAdjustHandles="1" noChangeArrowheads="1" noChangeShapeType="1" noTextEdit="1"/>
              </p:cNvSpPr>
              <p:nvPr>
                <p:ph idx="1"/>
              </p:nvPr>
            </p:nvSpPr>
            <p:spPr>
              <a:xfrm>
                <a:off x="252047" y="1489564"/>
                <a:ext cx="10515600" cy="4351338"/>
              </a:xfrm>
              <a:blipFill>
                <a:blip r:embed="rId2"/>
                <a:stretch>
                  <a:fillRect l="-1043" t="-2241" r="-928"/>
                </a:stretch>
              </a:blipFill>
            </p:spPr>
            <p:txBody>
              <a:bodyPr/>
              <a:lstStyle/>
              <a:p>
                <a:r>
                  <a:rPr lang="en-GB">
                    <a:noFill/>
                  </a:rPr>
                  <a:t> </a:t>
                </a:r>
              </a:p>
            </p:txBody>
          </p:sp>
        </mc:Fallback>
      </mc:AlternateContent>
    </p:spTree>
    <p:extLst>
      <p:ext uri="{BB962C8B-B14F-4D97-AF65-F5344CB8AC3E}">
        <p14:creationId xmlns:p14="http://schemas.microsoft.com/office/powerpoint/2010/main" val="871764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1213</Words>
  <Application>Microsoft Office PowerPoint</Application>
  <PresentationFormat>Widescreen</PresentationFormat>
  <Paragraphs>69</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Google Sans Text</vt:lpstr>
      <vt:lpstr>Arial</vt:lpstr>
      <vt:lpstr>Calibri</vt:lpstr>
      <vt:lpstr>Calibri Light</vt:lpstr>
      <vt:lpstr>Cambria Math</vt:lpstr>
      <vt:lpstr>Consolas</vt:lpstr>
      <vt:lpstr>Office Theme</vt:lpstr>
      <vt:lpstr>PowerPoint Presentation</vt:lpstr>
      <vt:lpstr>PowerPoint Presentation</vt:lpstr>
      <vt:lpstr>PowerPoint Presentation</vt:lpstr>
      <vt:lpstr>PowerPoint Presentation</vt:lpstr>
      <vt:lpstr>Summary of Model Findings &amp; Insights</vt:lpstr>
      <vt:lpstr>PowerPoint Presentation</vt:lpstr>
      <vt:lpstr>PowerPoint Presentation</vt:lpstr>
      <vt:lpstr>PowerPoint Presentation</vt:lpstr>
      <vt:lpstr>tea_evaluator.py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renzhe yao</dc:creator>
  <cp:lastModifiedBy>renzhe yao</cp:lastModifiedBy>
  <cp:revision>4</cp:revision>
  <dcterms:created xsi:type="dcterms:W3CDTF">2026-10-22T20:18:20Z</dcterms:created>
  <dcterms:modified xsi:type="dcterms:W3CDTF">2026-10-22T21:57:28Z</dcterms:modified>
</cp:coreProperties>
</file>